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1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"/>
          <p:cNvSpPr txBox="0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rect"/>
          <p:cNvSpPr txBox="0"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CURRENT RESEARCH  /  COMPUTATIONAL ANTIBODY DESIGN"/>
          <p:cNvSpPr txBox="1"/>
          <p:nvPr/>
        </p:nvSpPr>
        <p:spPr>
          <a:xfrm>
            <a:off x="365760" y="152400"/>
            <a:ext cx="11318240" cy="1706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960" b="1">
                <a:solidFill>
                  <a:srgbClr val="0072B2"/>
                </a:solidFill>
                <a:latin typeface="Arial"/>
              </a:rPr>
              <a:t>CURRENT RESEARCH  /  COMPUTATIONAL ANTIBODY DESIGN</a:t>
            </a:r>
            <a:endParaRPr/>
          </a:p>
        </p:txBody>
      </p:sp>
      <p:sp>
        <p:nvSpPr>
          <p:cNvPr id="5" name="AI-designed biparatopic antibodies against B7-H3"/>
          <p:cNvSpPr txBox="1"/>
          <p:nvPr/>
        </p:nvSpPr>
        <p:spPr>
          <a:xfrm>
            <a:off x="365760" y="381000"/>
            <a:ext cx="11318240" cy="4124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2320" b="1">
                <a:solidFill>
                  <a:srgbClr val="102B46"/>
                </a:solidFill>
                <a:latin typeface="Arial"/>
              </a:rPr>
              <a:t>AI-designed biparatopic antibodies against B7-H3</a:t>
            </a:r>
            <a:endParaRPr/>
          </a:p>
        </p:txBody>
      </p:sp>
      <p:sp>
        <p:nvSpPr>
          <p:cNvPr id="6" name="Two distinct epitopes on human CD276  |  Goal: same-antigen engag"/>
          <p:cNvSpPr txBox="1"/>
          <p:nvPr/>
        </p:nvSpPr>
        <p:spPr>
          <a:xfrm>
            <a:off x="375920" y="767080"/>
            <a:ext cx="11308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1200" b="0">
                <a:solidFill>
                  <a:srgbClr val="546B7E"/>
                </a:solidFill>
                <a:latin typeface="Arial"/>
              </a:rPr>
              <a:t>Two distinct epitopes on human CD276  |  Goal: same-antigen engagement in a 1A + 1B IgG-Fc</a:t>
            </a:r>
            <a:endParaRPr/>
          </a:p>
        </p:txBody>
      </p:sp>
      <p:sp>
        <p:nvSpPr>
          <p:cNvPr id="7" name="RF2 SCREENING LIBRARY:  1,176 Arm A models   +   1,188 Arm B mode"/>
          <p:cNvSpPr txBox="1"/>
          <p:nvPr/>
        </p:nvSpPr>
        <p:spPr>
          <a:xfrm>
            <a:off x="375920" y="1021080"/>
            <a:ext cx="11308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1000" b="1">
                <a:solidFill>
                  <a:srgbClr val="263E53"/>
                </a:solidFill>
                <a:latin typeface="Arial"/>
              </a:rPr>
              <a:t>RF2 SCREENING LIBRARY:  1,176 Arm A models   +   1,188 Arm B models   =   2,364 models</a:t>
            </a:r>
            <a:endParaRPr/>
          </a:p>
        </p:txBody>
      </p:sp>
      <p:sp>
        <p:nvSpPr>
          <p:cNvPr id="8" name="roundRect"/>
          <p:cNvSpPr txBox="0"/>
          <p:nvPr/>
        </p:nvSpPr>
        <p:spPr>
          <a:xfrm>
            <a:off x="365760" y="1209040"/>
            <a:ext cx="2204720" cy="792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01  TARGET &amp; EPITOPES"/>
          <p:cNvSpPr txBox="1"/>
          <p:nvPr/>
        </p:nvSpPr>
        <p:spPr>
          <a:xfrm>
            <a:off x="462280" y="1305560"/>
            <a:ext cx="11221720" cy="156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80" b="1">
                <a:solidFill>
                  <a:srgbClr val="0072B2"/>
                </a:solidFill>
                <a:latin typeface="Arial"/>
              </a:rPr>
              <a:t>01  TARGET &amp; EPITOPES</a:t>
            </a:r>
            <a:endParaRPr/>
          </a:p>
        </p:txBody>
      </p:sp>
      <p:sp>
        <p:nvSpPr>
          <p:cNvPr id="10" name="Human 4Ig B7-H3"/>
          <p:cNvSpPr txBox="1"/>
          <p:nvPr/>
        </p:nvSpPr>
        <p:spPr>
          <a:xfrm>
            <a:off x="462280" y="1524000"/>
            <a:ext cx="11221720" cy="1706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960" b="1">
                <a:solidFill>
                  <a:srgbClr val="263E53"/>
                </a:solidFill>
                <a:latin typeface="Arial"/>
              </a:rPr>
              <a:t>Human 4Ig B7-H3</a:t>
            </a:r>
            <a:endParaRPr/>
          </a:p>
        </p:txBody>
      </p:sp>
      <p:sp>
        <p:nvSpPr>
          <p:cNvPr id="11" name="A: IgV1  •  B: IgC1"/>
          <p:cNvSpPr txBox="1"/>
          <p:nvPr/>
        </p:nvSpPr>
        <p:spPr>
          <a:xfrm>
            <a:off x="462280" y="1752600"/>
            <a:ext cx="1122172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A: IgV1  •  B: IgC1</a:t>
            </a:r>
            <a:endParaRPr/>
          </a:p>
        </p:txBody>
      </p:sp>
      <p:sp>
        <p:nvSpPr>
          <p:cNvPr id="12" name="roundRect"/>
          <p:cNvSpPr txBox="0"/>
          <p:nvPr/>
        </p:nvSpPr>
        <p:spPr>
          <a:xfrm>
            <a:off x="2677160" y="1209040"/>
            <a:ext cx="2204720" cy="792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02  DESIGN &amp; SCREEN"/>
          <p:cNvSpPr txBox="1"/>
          <p:nvPr/>
        </p:nvSpPr>
        <p:spPr>
          <a:xfrm>
            <a:off x="2773680" y="1305560"/>
            <a:ext cx="8910320" cy="156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80" b="1">
                <a:solidFill>
                  <a:srgbClr val="0072B2"/>
                </a:solidFill>
                <a:latin typeface="Arial"/>
              </a:rPr>
              <a:t>02  DESIGN &amp; SCREEN</a:t>
            </a:r>
            <a:endParaRPr/>
          </a:p>
        </p:txBody>
      </p:sp>
      <p:sp>
        <p:nvSpPr>
          <p:cNvPr id="14" name="RFantibody + ProteinMPNN"/>
          <p:cNvSpPr txBox="1"/>
          <p:nvPr/>
        </p:nvSpPr>
        <p:spPr>
          <a:xfrm>
            <a:off x="2773680" y="1524000"/>
            <a:ext cx="8910320" cy="1706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960" b="1">
                <a:solidFill>
                  <a:srgbClr val="263E53"/>
                </a:solidFill>
                <a:latin typeface="Arial"/>
              </a:rPr>
              <a:t>RFantibody + ProteinMPNN</a:t>
            </a:r>
            <a:endParaRPr/>
          </a:p>
        </p:txBody>
      </p:sp>
      <p:sp>
        <p:nvSpPr>
          <p:cNvPr id="15" name="RF2 geometry + interface QC"/>
          <p:cNvSpPr txBox="1"/>
          <p:nvPr/>
        </p:nvSpPr>
        <p:spPr>
          <a:xfrm>
            <a:off x="2773680" y="1752600"/>
            <a:ext cx="891032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RF2 geometry + interface QC</a:t>
            </a:r>
            <a:endParaRPr/>
          </a:p>
        </p:txBody>
      </p:sp>
      <p:sp>
        <p:nvSpPr>
          <p:cNvPr id="16" name="roundRect"/>
          <p:cNvSpPr txBox="0"/>
          <p:nvPr/>
        </p:nvSpPr>
        <p:spPr>
          <a:xfrm>
            <a:off x="4988560" y="1209040"/>
            <a:ext cx="2204720" cy="792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03  ARM VALIDATION"/>
          <p:cNvSpPr txBox="1"/>
          <p:nvPr/>
        </p:nvSpPr>
        <p:spPr>
          <a:xfrm>
            <a:off x="5085080" y="1305560"/>
            <a:ext cx="6598920" cy="156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80" b="1">
                <a:solidFill>
                  <a:srgbClr val="0072B2"/>
                </a:solidFill>
                <a:latin typeface="Arial"/>
              </a:rPr>
              <a:t>03  ARM VALIDATION</a:t>
            </a:r>
            <a:endParaRPr/>
          </a:p>
        </p:txBody>
      </p:sp>
      <p:sp>
        <p:nvSpPr>
          <p:cNvPr id="18" name="AlphaFold 3"/>
          <p:cNvSpPr txBox="1"/>
          <p:nvPr/>
        </p:nvSpPr>
        <p:spPr>
          <a:xfrm>
            <a:off x="5085080" y="1524000"/>
            <a:ext cx="6598920" cy="1706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960" b="1">
                <a:solidFill>
                  <a:srgbClr val="263E53"/>
                </a:solidFill>
                <a:latin typeface="Arial"/>
              </a:rPr>
              <a:t>AlphaFold 3</a:t>
            </a:r>
            <a:endParaRPr/>
          </a:p>
        </p:txBody>
      </p:sp>
      <p:sp>
        <p:nvSpPr>
          <p:cNvPr id="19" name="2 seeds × 2 samples per arm"/>
          <p:cNvSpPr txBox="1"/>
          <p:nvPr/>
        </p:nvSpPr>
        <p:spPr>
          <a:xfrm>
            <a:off x="5085080" y="1752600"/>
            <a:ext cx="659892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2 seeds × 2 samples per arm</a:t>
            </a:r>
            <a:endParaRPr/>
          </a:p>
        </p:txBody>
      </p:sp>
      <p:sp>
        <p:nvSpPr>
          <p:cNvPr id="20" name="roundRect"/>
          <p:cNvSpPr txBox="0"/>
          <p:nvPr/>
        </p:nvSpPr>
        <p:spPr>
          <a:xfrm>
            <a:off x="7299960" y="1209040"/>
            <a:ext cx="2204720" cy="792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" name="04  DUAL-ARM MODELING"/>
          <p:cNvSpPr txBox="1"/>
          <p:nvPr/>
        </p:nvSpPr>
        <p:spPr>
          <a:xfrm>
            <a:off x="7396480" y="1305560"/>
            <a:ext cx="4287520" cy="156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80" b="1">
                <a:solidFill>
                  <a:srgbClr val="0072B2"/>
                </a:solidFill>
                <a:latin typeface="Arial"/>
              </a:rPr>
              <a:t>04  DUAL-ARM MODELING</a:t>
            </a:r>
            <a:endParaRPr/>
          </a:p>
        </p:txBody>
      </p:sp>
      <p:sp>
        <p:nvSpPr>
          <p:cNvPr id="22" name="40 Arm A × 29 Arm B"/>
          <p:cNvSpPr txBox="1"/>
          <p:nvPr/>
        </p:nvSpPr>
        <p:spPr>
          <a:xfrm>
            <a:off x="7396480" y="1524000"/>
            <a:ext cx="4287520" cy="1706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960" b="1">
                <a:solidFill>
                  <a:srgbClr val="263E53"/>
                </a:solidFill>
                <a:latin typeface="Arial"/>
              </a:rPr>
              <a:t>40 Arm A × 29 Arm B</a:t>
            </a:r>
            <a:endParaRPr/>
          </a:p>
        </p:txBody>
      </p:sp>
      <p:sp>
        <p:nvSpPr>
          <p:cNvPr id="23" name="Shared full 4Ig target"/>
          <p:cNvSpPr txBox="1"/>
          <p:nvPr/>
        </p:nvSpPr>
        <p:spPr>
          <a:xfrm>
            <a:off x="7396480" y="1752600"/>
            <a:ext cx="428752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Shared full 4Ig target</a:t>
            </a:r>
            <a:endParaRPr/>
          </a:p>
        </p:txBody>
      </p:sp>
      <p:sp>
        <p:nvSpPr>
          <p:cNvPr id="24" name="roundRect"/>
          <p:cNvSpPr txBox="0"/>
          <p:nvPr/>
        </p:nvSpPr>
        <p:spPr>
          <a:xfrm>
            <a:off x="9611360" y="1209040"/>
            <a:ext cx="2204720" cy="792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" name="05  NEXT: IgG &amp; ASSAYS"/>
          <p:cNvSpPr txBox="1"/>
          <p:nvPr/>
        </p:nvSpPr>
        <p:spPr>
          <a:xfrm>
            <a:off x="9707880" y="1305560"/>
            <a:ext cx="1976120" cy="156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80" b="1">
                <a:solidFill>
                  <a:srgbClr val="0072B2"/>
                </a:solidFill>
                <a:latin typeface="Arial"/>
              </a:rPr>
              <a:t>05  NEXT: IgG &amp; ASSAYS</a:t>
            </a:r>
            <a:endParaRPr/>
          </a:p>
        </p:txBody>
      </p:sp>
      <p:sp>
        <p:nvSpPr>
          <p:cNvPr id="26" name="Pairing + Fc engineering"/>
          <p:cNvSpPr txBox="1"/>
          <p:nvPr/>
        </p:nvSpPr>
        <p:spPr>
          <a:xfrm>
            <a:off x="9707880" y="1524000"/>
            <a:ext cx="1976120" cy="1706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960" b="1">
                <a:solidFill>
                  <a:srgbClr val="263E53"/>
                </a:solidFill>
                <a:latin typeface="Arial"/>
              </a:rPr>
              <a:t>Pairing + Fc engineering</a:t>
            </a:r>
            <a:endParaRPr/>
          </a:p>
        </p:txBody>
      </p:sp>
      <p:sp>
        <p:nvSpPr>
          <p:cNvPr id="27" name="Binding, cis engagement, function"/>
          <p:cNvSpPr txBox="1"/>
          <p:nvPr/>
        </p:nvSpPr>
        <p:spPr>
          <a:xfrm>
            <a:off x="9707880" y="1752600"/>
            <a:ext cx="197612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Binding, cis engagement, function</a:t>
            </a:r>
            <a:endParaRPr/>
          </a:p>
        </p:txBody>
      </p:sp>
      <p:sp>
        <p:nvSpPr>
          <p:cNvPr id="28" name="roundRect"/>
          <p:cNvSpPr txBox="0"/>
          <p:nvPr/>
        </p:nvSpPr>
        <p:spPr>
          <a:xfrm>
            <a:off x="365760" y="2133600"/>
            <a:ext cx="3677920" cy="78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" name="69"/>
          <p:cNvSpPr txBox="1"/>
          <p:nvPr/>
        </p:nvSpPr>
        <p:spPr>
          <a:xfrm>
            <a:off x="487680" y="2194560"/>
            <a:ext cx="11196320" cy="3769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2120" b="1">
                <a:solidFill>
                  <a:srgbClr val="102B46"/>
                </a:solidFill>
                <a:latin typeface="Arial"/>
              </a:rPr>
              <a:t>69</a:t>
            </a:r>
            <a:endParaRPr/>
          </a:p>
        </p:txBody>
      </p:sp>
      <p:sp>
        <p:nvSpPr>
          <p:cNvPr id="30" name="RF2-shortlisted arm candidates"/>
          <p:cNvSpPr txBox="1"/>
          <p:nvPr/>
        </p:nvSpPr>
        <p:spPr>
          <a:xfrm>
            <a:off x="487680" y="2524760"/>
            <a:ext cx="11196320" cy="1920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1080" b="1">
                <a:solidFill>
                  <a:srgbClr val="102B46"/>
                </a:solidFill>
                <a:latin typeface="Arial"/>
              </a:rPr>
              <a:t>RF2-shortlisted arm candidates</a:t>
            </a:r>
            <a:endParaRPr/>
          </a:p>
        </p:txBody>
      </p:sp>
      <p:sp>
        <p:nvSpPr>
          <p:cNvPr id="31" name="40 Arm A + 29 Arm B"/>
          <p:cNvSpPr txBox="1"/>
          <p:nvPr/>
        </p:nvSpPr>
        <p:spPr>
          <a:xfrm>
            <a:off x="487680" y="2743200"/>
            <a:ext cx="1119632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40 Arm A + 29 Arm B</a:t>
            </a:r>
            <a:endParaRPr/>
          </a:p>
        </p:txBody>
      </p:sp>
      <p:sp>
        <p:nvSpPr>
          <p:cNvPr id="32" name="roundRect"/>
          <p:cNvSpPr txBox="0"/>
          <p:nvPr/>
        </p:nvSpPr>
        <p:spPr>
          <a:xfrm>
            <a:off x="4257040" y="2133600"/>
            <a:ext cx="3677920" cy="78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" name="276"/>
          <p:cNvSpPr txBox="1"/>
          <p:nvPr/>
        </p:nvSpPr>
        <p:spPr>
          <a:xfrm>
            <a:off x="4378960" y="2194560"/>
            <a:ext cx="7305040" cy="3769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2120" b="1">
                <a:solidFill>
                  <a:srgbClr val="102B46"/>
                </a:solidFill>
                <a:latin typeface="Arial"/>
              </a:rPr>
              <a:t>276</a:t>
            </a:r>
            <a:endParaRPr/>
          </a:p>
        </p:txBody>
      </p:sp>
      <p:sp>
        <p:nvSpPr>
          <p:cNvPr id="34" name="AF3 arm-validation predictions"/>
          <p:cNvSpPr txBox="1"/>
          <p:nvPr/>
        </p:nvSpPr>
        <p:spPr>
          <a:xfrm>
            <a:off x="4378960" y="2524760"/>
            <a:ext cx="7305040" cy="1920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1080" b="1">
                <a:solidFill>
                  <a:srgbClr val="102B46"/>
                </a:solidFill>
                <a:latin typeface="Arial"/>
              </a:rPr>
              <a:t>AF3 arm-validation predictions</a:t>
            </a:r>
            <a:endParaRPr/>
          </a:p>
        </p:txBody>
      </p:sp>
      <p:sp>
        <p:nvSpPr>
          <p:cNvPr id="35" name="69 inputs × 4 stochastic samples"/>
          <p:cNvSpPr txBox="1"/>
          <p:nvPr/>
        </p:nvSpPr>
        <p:spPr>
          <a:xfrm>
            <a:off x="4378960" y="2743200"/>
            <a:ext cx="730504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69 inputs × 4 stochastic samples</a:t>
            </a:r>
            <a:endParaRPr/>
          </a:p>
        </p:txBody>
      </p:sp>
      <p:sp>
        <p:nvSpPr>
          <p:cNvPr id="36" name="roundRect"/>
          <p:cNvSpPr txBox="0"/>
          <p:nvPr/>
        </p:nvSpPr>
        <p:spPr>
          <a:xfrm>
            <a:off x="8148320" y="2133600"/>
            <a:ext cx="3677920" cy="787400"/>
          </a:xfrm>
          <a:prstGeom prst="round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7" name="1,160"/>
          <p:cNvSpPr txBox="1"/>
          <p:nvPr/>
        </p:nvSpPr>
        <p:spPr>
          <a:xfrm>
            <a:off x="8270240" y="2194560"/>
            <a:ext cx="3413760" cy="3769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2120" b="1">
                <a:solidFill>
                  <a:srgbClr val="FFFFFF"/>
                </a:solidFill>
                <a:latin typeface="Arial"/>
              </a:rPr>
              <a:t>1,160</a:t>
            </a:r>
            <a:endParaRPr/>
          </a:p>
        </p:txBody>
      </p:sp>
      <p:sp>
        <p:nvSpPr>
          <p:cNvPr id="38" name="A+B pairwise inputs"/>
          <p:cNvSpPr txBox="1"/>
          <p:nvPr/>
        </p:nvSpPr>
        <p:spPr>
          <a:xfrm>
            <a:off x="8270240" y="2524760"/>
            <a:ext cx="3413760" cy="1920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1080" b="1">
                <a:solidFill>
                  <a:srgbClr val="FFFFFF"/>
                </a:solidFill>
                <a:latin typeface="Arial"/>
              </a:rPr>
              <a:t>A+B pairwise inputs</a:t>
            </a:r>
            <a:endParaRPr/>
          </a:p>
        </p:txBody>
      </p:sp>
      <p:sp>
        <p:nvSpPr>
          <p:cNvPr id="39" name="164 completed • snapshot: 18 Oct 2026"/>
          <p:cNvSpPr txBox="1"/>
          <p:nvPr/>
        </p:nvSpPr>
        <p:spPr>
          <a:xfrm>
            <a:off x="8270240" y="2743200"/>
            <a:ext cx="341376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D7EAF6"/>
                </a:solidFill>
                <a:latin typeface="Arial"/>
              </a:rPr>
              <a:t>164 completed • snapshot: 18 Oct 2026</a:t>
            </a:r>
            <a:endParaRPr/>
          </a:p>
        </p:txBody>
      </p:sp>
      <p:sp>
        <p:nvSpPr>
          <p:cNvPr id="40" name="ARM-LEVEL EVIDENCE  •  Cropped-target AF3 validation cohort; inde"/>
          <p:cNvSpPr txBox="1"/>
          <p:nvPr/>
        </p:nvSpPr>
        <p:spPr>
          <a:xfrm>
            <a:off x="375920" y="3012440"/>
            <a:ext cx="11308080" cy="1706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960" b="1">
                <a:solidFill>
                  <a:srgbClr val="263E53"/>
                </a:solidFill>
                <a:latin typeface="Arial"/>
              </a:rPr>
              <a:t>ARM-LEVEL EVIDENCE  •  Cropped-target AF3 validation cohort; independent of the later full-target pair campaign</a:t>
            </a:r>
            <a:endParaRPr/>
          </a:p>
        </p:txBody>
      </p:sp>
      <p:sp>
        <p:nvSpPr>
          <p:cNvPr id="41" name="ellipse"/>
          <p:cNvSpPr txBox="0"/>
          <p:nvPr/>
        </p:nvSpPr>
        <p:spPr>
          <a:xfrm>
            <a:off x="391160" y="3251200"/>
            <a:ext cx="81280" cy="8128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42" name="Arm A: IgV1 FG loop (n = 40)"/>
          <p:cNvSpPr txBox="1"/>
          <p:nvPr/>
        </p:nvSpPr>
        <p:spPr>
          <a:xfrm>
            <a:off x="528320" y="3205480"/>
            <a:ext cx="11155680" cy="1635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920" b="0">
                <a:solidFill>
                  <a:srgbClr val="263E53"/>
                </a:solidFill>
                <a:latin typeface="Arial"/>
              </a:rPr>
              <a:t>Arm A: IgV1 FG loop (n = 40)</a:t>
            </a:r>
            <a:endParaRPr/>
          </a:p>
        </p:txBody>
      </p:sp>
      <p:sp>
        <p:nvSpPr>
          <p:cNvPr id="43" name="ellipse"/>
          <p:cNvSpPr txBox="0"/>
          <p:nvPr/>
        </p:nvSpPr>
        <p:spPr>
          <a:xfrm>
            <a:off x="2702560" y="3251200"/>
            <a:ext cx="81280" cy="8128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44" name="Arm B: IgC1 patch (n = 29)"/>
          <p:cNvSpPr txBox="1"/>
          <p:nvPr/>
        </p:nvSpPr>
        <p:spPr>
          <a:xfrm>
            <a:off x="2839720" y="3205480"/>
            <a:ext cx="8844280" cy="1635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920" b="0">
                <a:solidFill>
                  <a:srgbClr val="263E53"/>
                </a:solidFill>
                <a:latin typeface="Arial"/>
              </a:rPr>
              <a:t>Arm B: IgC1 patch (n = 29)</a:t>
            </a:r>
            <a:endParaRPr/>
          </a:p>
        </p:txBody>
      </p:sp>
      <p:sp>
        <p:nvSpPr>
          <p:cNvPr id="45" name="Computational shortlist ≠ confirmed binding"/>
          <p:cNvSpPr txBox="1"/>
          <p:nvPr/>
        </p:nvSpPr>
        <p:spPr>
          <a:xfrm>
            <a:off x="7620000" y="3205480"/>
            <a:ext cx="4064000" cy="1635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920" b="0">
                <a:solidFill>
                  <a:srgbClr val="546B7E"/>
                </a:solidFill>
                <a:latin typeface="Arial"/>
              </a:rPr>
              <a:t>Computational shortlist ≠ confirmed binding</a:t>
            </a:r>
            <a:endParaRPr/>
          </a:p>
        </p:txBody>
      </p:sp>
      <p:sp>
        <p:nvSpPr>
          <p:cNvPr id="46" name="roundRect"/>
          <p:cNvSpPr txBox="0"/>
          <p:nvPr/>
        </p:nvSpPr>
        <p:spPr>
          <a:xfrm>
            <a:off x="314960" y="3423920"/>
            <a:ext cx="5588000" cy="279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7" name="roundRect"/>
          <p:cNvSpPr txBox="0"/>
          <p:nvPr/>
        </p:nvSpPr>
        <p:spPr>
          <a:xfrm>
            <a:off x="6289040" y="3423920"/>
            <a:ext cx="5588000" cy="279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8" name="Antibody pairing vs. target-interface confidence"/>
          <p:cNvSpPr txBox="1"/>
          <p:nvPr/>
        </p:nvSpPr>
        <p:spPr>
          <a:xfrm>
            <a:off x="447040" y="3489960"/>
            <a:ext cx="11236960" cy="1991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1120" b="1">
                <a:solidFill>
                  <a:srgbClr val="263E53"/>
                </a:solidFill>
                <a:latin typeface="Arial"/>
              </a:rPr>
              <a:t>Antibody pairing vs. target-interface confidence</a:t>
            </a:r>
            <a:endParaRPr/>
          </a:p>
        </p:txBody>
      </p:sp>
      <p:sp>
        <p:nvSpPr>
          <p:cNvPr id="49" name="Each point: one arm candidate, mean of four AF3 samples"/>
          <p:cNvSpPr txBox="1"/>
          <p:nvPr/>
        </p:nvSpPr>
        <p:spPr>
          <a:xfrm>
            <a:off x="447040" y="3713480"/>
            <a:ext cx="11236960" cy="156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80" b="0">
                <a:solidFill>
                  <a:srgbClr val="546B7E"/>
                </a:solidFill>
                <a:latin typeface="Arial"/>
              </a:rPr>
              <a:t>Each point: one arm candidate, mean of four AF3 samples</a:t>
            </a:r>
            <a:endParaRPr/>
          </a:p>
        </p:txBody>
      </p:sp>
      <p:sp>
        <p:nvSpPr>
          <p:cNvPr id="50" name="rect"/>
          <p:cNvSpPr txBox="0"/>
          <p:nvPr/>
        </p:nvSpPr>
        <p:spPr>
          <a:xfrm>
            <a:off x="965200" y="4064000"/>
            <a:ext cx="10160" cy="1463040"/>
          </a:xfrm>
          <a:prstGeom prst="rect">
            <a:avLst/>
          </a:prstGeom>
          <a:solidFill>
            <a:srgbClr val="DFE7ED"/>
          </a:solidFill>
          <a:ln>
            <a:noFill/>
          </a:ln>
        </p:spPr>
      </p:sp>
      <p:sp>
        <p:nvSpPr>
          <p:cNvPr id="51" name="0.75"/>
          <p:cNvSpPr txBox="1"/>
          <p:nvPr/>
        </p:nvSpPr>
        <p:spPr>
          <a:xfrm>
            <a:off x="863600" y="5588000"/>
            <a:ext cx="1082040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0.75</a:t>
            </a:r>
            <a:endParaRPr/>
          </a:p>
        </p:txBody>
      </p:sp>
      <p:sp>
        <p:nvSpPr>
          <p:cNvPr id="52" name="rect"/>
          <p:cNvSpPr txBox="0"/>
          <p:nvPr/>
        </p:nvSpPr>
        <p:spPr>
          <a:xfrm>
            <a:off x="1899920" y="4064000"/>
            <a:ext cx="10160" cy="1463040"/>
          </a:xfrm>
          <a:prstGeom prst="rect">
            <a:avLst/>
          </a:prstGeom>
          <a:solidFill>
            <a:srgbClr val="DFE7ED"/>
          </a:solidFill>
          <a:ln>
            <a:noFill/>
          </a:ln>
        </p:spPr>
      </p:sp>
      <p:sp>
        <p:nvSpPr>
          <p:cNvPr id="53" name="0.80"/>
          <p:cNvSpPr txBox="1"/>
          <p:nvPr/>
        </p:nvSpPr>
        <p:spPr>
          <a:xfrm>
            <a:off x="1798320" y="5588000"/>
            <a:ext cx="988568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0.80</a:t>
            </a:r>
            <a:endParaRPr/>
          </a:p>
        </p:txBody>
      </p:sp>
      <p:sp>
        <p:nvSpPr>
          <p:cNvPr id="54" name="rect"/>
          <p:cNvSpPr txBox="0"/>
          <p:nvPr/>
        </p:nvSpPr>
        <p:spPr>
          <a:xfrm>
            <a:off x="2834640" y="4064000"/>
            <a:ext cx="10160" cy="1463040"/>
          </a:xfrm>
          <a:prstGeom prst="rect">
            <a:avLst/>
          </a:prstGeom>
          <a:solidFill>
            <a:srgbClr val="DFE7ED"/>
          </a:solidFill>
          <a:ln>
            <a:noFill/>
          </a:ln>
        </p:spPr>
      </p:sp>
      <p:sp>
        <p:nvSpPr>
          <p:cNvPr id="55" name="0.85"/>
          <p:cNvSpPr txBox="1"/>
          <p:nvPr/>
        </p:nvSpPr>
        <p:spPr>
          <a:xfrm>
            <a:off x="2733040" y="5588000"/>
            <a:ext cx="895096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0.85</a:t>
            </a:r>
            <a:endParaRPr/>
          </a:p>
        </p:txBody>
      </p:sp>
      <p:sp>
        <p:nvSpPr>
          <p:cNvPr id="56" name="rect"/>
          <p:cNvSpPr txBox="0"/>
          <p:nvPr/>
        </p:nvSpPr>
        <p:spPr>
          <a:xfrm>
            <a:off x="3769360" y="4064000"/>
            <a:ext cx="10160" cy="1463040"/>
          </a:xfrm>
          <a:prstGeom prst="rect">
            <a:avLst/>
          </a:prstGeom>
          <a:solidFill>
            <a:srgbClr val="DFE7ED"/>
          </a:solidFill>
          <a:ln>
            <a:noFill/>
          </a:ln>
        </p:spPr>
      </p:sp>
      <p:sp>
        <p:nvSpPr>
          <p:cNvPr id="57" name="0.90"/>
          <p:cNvSpPr txBox="1"/>
          <p:nvPr/>
        </p:nvSpPr>
        <p:spPr>
          <a:xfrm>
            <a:off x="3667760" y="5588000"/>
            <a:ext cx="801624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0.90</a:t>
            </a:r>
            <a:endParaRPr/>
          </a:p>
        </p:txBody>
      </p:sp>
      <p:sp>
        <p:nvSpPr>
          <p:cNvPr id="58" name="rect"/>
          <p:cNvSpPr txBox="0"/>
          <p:nvPr/>
        </p:nvSpPr>
        <p:spPr>
          <a:xfrm>
            <a:off x="4704080" y="4064000"/>
            <a:ext cx="10160" cy="1463040"/>
          </a:xfrm>
          <a:prstGeom prst="rect">
            <a:avLst/>
          </a:prstGeom>
          <a:solidFill>
            <a:srgbClr val="DFE7ED"/>
          </a:solidFill>
          <a:ln>
            <a:noFill/>
          </a:ln>
        </p:spPr>
      </p:sp>
      <p:sp>
        <p:nvSpPr>
          <p:cNvPr id="59" name="0.95"/>
          <p:cNvSpPr txBox="1"/>
          <p:nvPr/>
        </p:nvSpPr>
        <p:spPr>
          <a:xfrm>
            <a:off x="4602480" y="5588000"/>
            <a:ext cx="708152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0.95</a:t>
            </a:r>
            <a:endParaRPr/>
          </a:p>
        </p:txBody>
      </p:sp>
      <p:sp>
        <p:nvSpPr>
          <p:cNvPr id="60" name="rect"/>
          <p:cNvSpPr txBox="0"/>
          <p:nvPr/>
        </p:nvSpPr>
        <p:spPr>
          <a:xfrm>
            <a:off x="5638800" y="4064000"/>
            <a:ext cx="10160" cy="1463040"/>
          </a:xfrm>
          <a:prstGeom prst="rect">
            <a:avLst/>
          </a:prstGeom>
          <a:solidFill>
            <a:srgbClr val="DFE7ED"/>
          </a:solidFill>
          <a:ln>
            <a:noFill/>
          </a:ln>
        </p:spPr>
      </p:sp>
      <p:sp>
        <p:nvSpPr>
          <p:cNvPr id="61" name="1.00"/>
          <p:cNvSpPr txBox="1"/>
          <p:nvPr/>
        </p:nvSpPr>
        <p:spPr>
          <a:xfrm>
            <a:off x="5537200" y="5588000"/>
            <a:ext cx="614680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1.00</a:t>
            </a:r>
            <a:endParaRPr/>
          </a:p>
        </p:txBody>
      </p:sp>
      <p:sp>
        <p:nvSpPr>
          <p:cNvPr id="62" name="rect"/>
          <p:cNvSpPr txBox="0"/>
          <p:nvPr/>
        </p:nvSpPr>
        <p:spPr>
          <a:xfrm>
            <a:off x="965200" y="5527040"/>
            <a:ext cx="4673600" cy="10160"/>
          </a:xfrm>
          <a:prstGeom prst="rect">
            <a:avLst/>
          </a:prstGeom>
          <a:solidFill>
            <a:srgbClr val="DFE7ED"/>
          </a:solidFill>
          <a:ln>
            <a:noFill/>
          </a:ln>
        </p:spPr>
      </p:sp>
      <p:sp>
        <p:nvSpPr>
          <p:cNvPr id="63" name="0.0"/>
          <p:cNvSpPr txBox="1"/>
          <p:nvPr/>
        </p:nvSpPr>
        <p:spPr>
          <a:xfrm>
            <a:off x="650240" y="5461000"/>
            <a:ext cx="1103376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0.0</a:t>
            </a:r>
            <a:endParaRPr/>
          </a:p>
        </p:txBody>
      </p:sp>
      <p:sp>
        <p:nvSpPr>
          <p:cNvPr id="64" name="rect"/>
          <p:cNvSpPr txBox="0"/>
          <p:nvPr/>
        </p:nvSpPr>
        <p:spPr>
          <a:xfrm>
            <a:off x="965200" y="5161280"/>
            <a:ext cx="4673600" cy="10160"/>
          </a:xfrm>
          <a:prstGeom prst="rect">
            <a:avLst/>
          </a:prstGeom>
          <a:solidFill>
            <a:srgbClr val="DFE7ED"/>
          </a:solidFill>
          <a:ln>
            <a:noFill/>
          </a:ln>
        </p:spPr>
      </p:sp>
      <p:sp>
        <p:nvSpPr>
          <p:cNvPr id="65" name="0.1"/>
          <p:cNvSpPr txBox="1"/>
          <p:nvPr/>
        </p:nvSpPr>
        <p:spPr>
          <a:xfrm>
            <a:off x="650240" y="5095240"/>
            <a:ext cx="1103376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0.1</a:t>
            </a:r>
            <a:endParaRPr/>
          </a:p>
        </p:txBody>
      </p:sp>
      <p:sp>
        <p:nvSpPr>
          <p:cNvPr id="66" name="rect"/>
          <p:cNvSpPr txBox="0"/>
          <p:nvPr/>
        </p:nvSpPr>
        <p:spPr>
          <a:xfrm>
            <a:off x="965200" y="4795520"/>
            <a:ext cx="4673600" cy="10160"/>
          </a:xfrm>
          <a:prstGeom prst="rect">
            <a:avLst/>
          </a:prstGeom>
          <a:solidFill>
            <a:srgbClr val="DFE7ED"/>
          </a:solidFill>
          <a:ln>
            <a:noFill/>
          </a:ln>
        </p:spPr>
      </p:sp>
      <p:sp>
        <p:nvSpPr>
          <p:cNvPr id="67" name="0.2"/>
          <p:cNvSpPr txBox="1"/>
          <p:nvPr/>
        </p:nvSpPr>
        <p:spPr>
          <a:xfrm>
            <a:off x="650240" y="4729480"/>
            <a:ext cx="1103376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0.2</a:t>
            </a:r>
            <a:endParaRPr/>
          </a:p>
        </p:txBody>
      </p:sp>
      <p:sp>
        <p:nvSpPr>
          <p:cNvPr id="68" name="rect"/>
          <p:cNvSpPr txBox="0"/>
          <p:nvPr/>
        </p:nvSpPr>
        <p:spPr>
          <a:xfrm>
            <a:off x="965200" y="4429760"/>
            <a:ext cx="4673600" cy="10160"/>
          </a:xfrm>
          <a:prstGeom prst="rect">
            <a:avLst/>
          </a:prstGeom>
          <a:solidFill>
            <a:srgbClr val="DFE7ED"/>
          </a:solidFill>
          <a:ln>
            <a:noFill/>
          </a:ln>
        </p:spPr>
      </p:sp>
      <p:sp>
        <p:nvSpPr>
          <p:cNvPr id="69" name="0.3"/>
          <p:cNvSpPr txBox="1"/>
          <p:nvPr/>
        </p:nvSpPr>
        <p:spPr>
          <a:xfrm>
            <a:off x="650240" y="4363720"/>
            <a:ext cx="1103376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0.3</a:t>
            </a:r>
            <a:endParaRPr/>
          </a:p>
        </p:txBody>
      </p:sp>
      <p:sp>
        <p:nvSpPr>
          <p:cNvPr id="70" name="rect"/>
          <p:cNvSpPr txBox="0"/>
          <p:nvPr/>
        </p:nvSpPr>
        <p:spPr>
          <a:xfrm>
            <a:off x="965200" y="4064000"/>
            <a:ext cx="4673600" cy="10160"/>
          </a:xfrm>
          <a:prstGeom prst="rect">
            <a:avLst/>
          </a:prstGeom>
          <a:solidFill>
            <a:srgbClr val="DFE7ED"/>
          </a:solidFill>
          <a:ln>
            <a:noFill/>
          </a:ln>
        </p:spPr>
      </p:sp>
      <p:sp>
        <p:nvSpPr>
          <p:cNvPr id="71" name="0.4"/>
          <p:cNvSpPr txBox="1"/>
          <p:nvPr/>
        </p:nvSpPr>
        <p:spPr>
          <a:xfrm>
            <a:off x="650240" y="3997960"/>
            <a:ext cx="1103376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0.4</a:t>
            </a:r>
            <a:endParaRPr/>
          </a:p>
        </p:txBody>
      </p:sp>
      <p:sp>
        <p:nvSpPr>
          <p:cNvPr id="72" name="rect"/>
          <p:cNvSpPr txBox="0"/>
          <p:nvPr/>
        </p:nvSpPr>
        <p:spPr>
          <a:xfrm>
            <a:off x="965200" y="5527040"/>
            <a:ext cx="4673600" cy="10160"/>
          </a:xfrm>
          <a:prstGeom prst="rect">
            <a:avLst/>
          </a:prstGeom>
          <a:solidFill>
            <a:srgbClr val="546B7E"/>
          </a:solidFill>
          <a:ln>
            <a:noFill/>
          </a:ln>
        </p:spPr>
      </p:sp>
      <p:sp>
        <p:nvSpPr>
          <p:cNvPr id="73" name="rect"/>
          <p:cNvSpPr txBox="0"/>
          <p:nvPr/>
        </p:nvSpPr>
        <p:spPr>
          <a:xfrm>
            <a:off x="965200" y="4064000"/>
            <a:ext cx="10160" cy="1463040"/>
          </a:xfrm>
          <a:prstGeom prst="rect">
            <a:avLst/>
          </a:prstGeom>
          <a:solidFill>
            <a:srgbClr val="546B7E"/>
          </a:solidFill>
          <a:ln>
            <a:noFill/>
          </a:ln>
        </p:spPr>
      </p:sp>
      <p:sp>
        <p:nvSpPr>
          <p:cNvPr id="74" name="ellipse"/>
          <p:cNvSpPr txBox="0"/>
          <p:nvPr/>
        </p:nvSpPr>
        <p:spPr>
          <a:xfrm>
            <a:off x="2575560" y="4879848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75" name="ellipse"/>
          <p:cNvSpPr txBox="0"/>
          <p:nvPr/>
        </p:nvSpPr>
        <p:spPr>
          <a:xfrm>
            <a:off x="2762504" y="4980432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76" name="ellipse"/>
          <p:cNvSpPr txBox="0"/>
          <p:nvPr/>
        </p:nvSpPr>
        <p:spPr>
          <a:xfrm>
            <a:off x="2949448" y="5071872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77" name="ellipse"/>
          <p:cNvSpPr txBox="0"/>
          <p:nvPr/>
        </p:nvSpPr>
        <p:spPr>
          <a:xfrm>
            <a:off x="2341880" y="4907280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78" name="ellipse"/>
          <p:cNvSpPr txBox="0"/>
          <p:nvPr/>
        </p:nvSpPr>
        <p:spPr>
          <a:xfrm>
            <a:off x="3136392" y="5071872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79" name="ellipse"/>
          <p:cNvSpPr txBox="0"/>
          <p:nvPr/>
        </p:nvSpPr>
        <p:spPr>
          <a:xfrm>
            <a:off x="2108200" y="5044440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80" name="ellipse"/>
          <p:cNvSpPr txBox="0"/>
          <p:nvPr/>
        </p:nvSpPr>
        <p:spPr>
          <a:xfrm>
            <a:off x="3042920" y="4934712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81" name="ellipse"/>
          <p:cNvSpPr txBox="0"/>
          <p:nvPr/>
        </p:nvSpPr>
        <p:spPr>
          <a:xfrm>
            <a:off x="2902712" y="4907280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82" name="ellipse"/>
          <p:cNvSpPr txBox="0"/>
          <p:nvPr/>
        </p:nvSpPr>
        <p:spPr>
          <a:xfrm>
            <a:off x="3416808" y="5071872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83" name="ellipse"/>
          <p:cNvSpPr txBox="0"/>
          <p:nvPr/>
        </p:nvSpPr>
        <p:spPr>
          <a:xfrm>
            <a:off x="3416808" y="4998720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84" name="ellipse"/>
          <p:cNvSpPr txBox="0"/>
          <p:nvPr/>
        </p:nvSpPr>
        <p:spPr>
          <a:xfrm>
            <a:off x="3697224" y="4669536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85" name="ellipse"/>
          <p:cNvSpPr txBox="0"/>
          <p:nvPr/>
        </p:nvSpPr>
        <p:spPr>
          <a:xfrm>
            <a:off x="3183128" y="4980432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86" name="ellipse"/>
          <p:cNvSpPr txBox="0"/>
          <p:nvPr/>
        </p:nvSpPr>
        <p:spPr>
          <a:xfrm>
            <a:off x="3276600" y="4806696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87" name="ellipse"/>
          <p:cNvSpPr txBox="0"/>
          <p:nvPr/>
        </p:nvSpPr>
        <p:spPr>
          <a:xfrm>
            <a:off x="3089656" y="4953000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88" name="ellipse"/>
          <p:cNvSpPr txBox="0"/>
          <p:nvPr/>
        </p:nvSpPr>
        <p:spPr>
          <a:xfrm>
            <a:off x="3323336" y="5099304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89" name="ellipse"/>
          <p:cNvSpPr txBox="0"/>
          <p:nvPr/>
        </p:nvSpPr>
        <p:spPr>
          <a:xfrm>
            <a:off x="3837432" y="4943856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90" name="ellipse"/>
          <p:cNvSpPr txBox="0"/>
          <p:nvPr/>
        </p:nvSpPr>
        <p:spPr>
          <a:xfrm>
            <a:off x="3042920" y="4971288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91" name="ellipse"/>
          <p:cNvSpPr txBox="0"/>
          <p:nvPr/>
        </p:nvSpPr>
        <p:spPr>
          <a:xfrm>
            <a:off x="2949448" y="4861560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92" name="ellipse"/>
          <p:cNvSpPr txBox="0"/>
          <p:nvPr/>
        </p:nvSpPr>
        <p:spPr>
          <a:xfrm>
            <a:off x="3557016" y="4852416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93" name="ellipse"/>
          <p:cNvSpPr txBox="0"/>
          <p:nvPr/>
        </p:nvSpPr>
        <p:spPr>
          <a:xfrm>
            <a:off x="2949448" y="4898136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94" name="ellipse"/>
          <p:cNvSpPr txBox="0"/>
          <p:nvPr/>
        </p:nvSpPr>
        <p:spPr>
          <a:xfrm>
            <a:off x="3416808" y="4989576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95" name="ellipse"/>
          <p:cNvSpPr txBox="0"/>
          <p:nvPr/>
        </p:nvSpPr>
        <p:spPr>
          <a:xfrm>
            <a:off x="3276600" y="4971288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96" name="ellipse"/>
          <p:cNvSpPr txBox="0"/>
          <p:nvPr/>
        </p:nvSpPr>
        <p:spPr>
          <a:xfrm>
            <a:off x="2575560" y="5017008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97" name="ellipse"/>
          <p:cNvSpPr txBox="0"/>
          <p:nvPr/>
        </p:nvSpPr>
        <p:spPr>
          <a:xfrm>
            <a:off x="2201672" y="5044440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98" name="ellipse"/>
          <p:cNvSpPr txBox="0"/>
          <p:nvPr/>
        </p:nvSpPr>
        <p:spPr>
          <a:xfrm>
            <a:off x="3510280" y="4934712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99" name="ellipse"/>
          <p:cNvSpPr txBox="0"/>
          <p:nvPr/>
        </p:nvSpPr>
        <p:spPr>
          <a:xfrm>
            <a:off x="3323336" y="5062728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100" name="ellipse"/>
          <p:cNvSpPr txBox="0"/>
          <p:nvPr/>
        </p:nvSpPr>
        <p:spPr>
          <a:xfrm>
            <a:off x="3276600" y="5007864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101" name="ellipse"/>
          <p:cNvSpPr txBox="0"/>
          <p:nvPr/>
        </p:nvSpPr>
        <p:spPr>
          <a:xfrm>
            <a:off x="3323336" y="4751832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102" name="ellipse"/>
          <p:cNvSpPr txBox="0"/>
          <p:nvPr/>
        </p:nvSpPr>
        <p:spPr>
          <a:xfrm>
            <a:off x="3183128" y="4989576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103" name="ellipse"/>
          <p:cNvSpPr txBox="0"/>
          <p:nvPr/>
        </p:nvSpPr>
        <p:spPr>
          <a:xfrm>
            <a:off x="2809240" y="4980432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104" name="ellipse"/>
          <p:cNvSpPr txBox="0"/>
          <p:nvPr/>
        </p:nvSpPr>
        <p:spPr>
          <a:xfrm>
            <a:off x="3510280" y="5007864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105" name="ellipse"/>
          <p:cNvSpPr txBox="0"/>
          <p:nvPr/>
        </p:nvSpPr>
        <p:spPr>
          <a:xfrm>
            <a:off x="2715768" y="5035296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106" name="ellipse"/>
          <p:cNvSpPr txBox="0"/>
          <p:nvPr/>
        </p:nvSpPr>
        <p:spPr>
          <a:xfrm>
            <a:off x="3370072" y="4971288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107" name="ellipse"/>
          <p:cNvSpPr txBox="0"/>
          <p:nvPr/>
        </p:nvSpPr>
        <p:spPr>
          <a:xfrm>
            <a:off x="3370072" y="5062728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108" name="ellipse"/>
          <p:cNvSpPr txBox="0"/>
          <p:nvPr/>
        </p:nvSpPr>
        <p:spPr>
          <a:xfrm>
            <a:off x="1734312" y="5035296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109" name="ellipse"/>
          <p:cNvSpPr txBox="0"/>
          <p:nvPr/>
        </p:nvSpPr>
        <p:spPr>
          <a:xfrm>
            <a:off x="3370072" y="4980432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110" name="ellipse"/>
          <p:cNvSpPr txBox="0"/>
          <p:nvPr/>
        </p:nvSpPr>
        <p:spPr>
          <a:xfrm>
            <a:off x="2996184" y="4943856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111" name="ellipse"/>
          <p:cNvSpPr txBox="0"/>
          <p:nvPr/>
        </p:nvSpPr>
        <p:spPr>
          <a:xfrm>
            <a:off x="3416808" y="4139184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112" name="ellipse"/>
          <p:cNvSpPr txBox="0"/>
          <p:nvPr/>
        </p:nvSpPr>
        <p:spPr>
          <a:xfrm>
            <a:off x="3183128" y="4971288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113" name="ellipse"/>
          <p:cNvSpPr txBox="0"/>
          <p:nvPr/>
        </p:nvSpPr>
        <p:spPr>
          <a:xfrm>
            <a:off x="3089656" y="4989576"/>
            <a:ext cx="50800" cy="50800"/>
          </a:xfrm>
          <a:prstGeom prst="ellipse">
            <a:avLst/>
          </a:prstGeom>
          <a:solidFill>
            <a:srgbClr val="8056A8"/>
          </a:solidFill>
          <a:ln w="6350">
            <a:solidFill>
              <a:srgbClr val="FFFFFF"/>
            </a:solidFill>
          </a:ln>
        </p:spPr>
      </p:sp>
      <p:sp>
        <p:nvSpPr>
          <p:cNvPr id="114" name="ellipse"/>
          <p:cNvSpPr txBox="0"/>
          <p:nvPr/>
        </p:nvSpPr>
        <p:spPr>
          <a:xfrm>
            <a:off x="3042920" y="5007864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15" name="ellipse"/>
          <p:cNvSpPr txBox="0"/>
          <p:nvPr/>
        </p:nvSpPr>
        <p:spPr>
          <a:xfrm>
            <a:off x="3136392" y="5108448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16" name="ellipse"/>
          <p:cNvSpPr txBox="0"/>
          <p:nvPr/>
        </p:nvSpPr>
        <p:spPr>
          <a:xfrm>
            <a:off x="3463544" y="5035296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17" name="ellipse"/>
          <p:cNvSpPr txBox="0"/>
          <p:nvPr/>
        </p:nvSpPr>
        <p:spPr>
          <a:xfrm>
            <a:off x="3416808" y="5071872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18" name="ellipse"/>
          <p:cNvSpPr txBox="0"/>
          <p:nvPr/>
        </p:nvSpPr>
        <p:spPr>
          <a:xfrm>
            <a:off x="3510280" y="5090160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19" name="ellipse"/>
          <p:cNvSpPr txBox="0"/>
          <p:nvPr/>
        </p:nvSpPr>
        <p:spPr>
          <a:xfrm>
            <a:off x="2902712" y="4953000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20" name="ellipse"/>
          <p:cNvSpPr txBox="0"/>
          <p:nvPr/>
        </p:nvSpPr>
        <p:spPr>
          <a:xfrm>
            <a:off x="3229864" y="5026152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21" name="ellipse"/>
          <p:cNvSpPr txBox="0"/>
          <p:nvPr/>
        </p:nvSpPr>
        <p:spPr>
          <a:xfrm>
            <a:off x="3416808" y="5007864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22" name="ellipse"/>
          <p:cNvSpPr txBox="0"/>
          <p:nvPr/>
        </p:nvSpPr>
        <p:spPr>
          <a:xfrm>
            <a:off x="3229864" y="5117592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23" name="ellipse"/>
          <p:cNvSpPr txBox="0"/>
          <p:nvPr/>
        </p:nvSpPr>
        <p:spPr>
          <a:xfrm>
            <a:off x="3370072" y="4943856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24" name="ellipse"/>
          <p:cNvSpPr txBox="0"/>
          <p:nvPr/>
        </p:nvSpPr>
        <p:spPr>
          <a:xfrm>
            <a:off x="3557016" y="5154168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25" name="ellipse"/>
          <p:cNvSpPr txBox="0"/>
          <p:nvPr/>
        </p:nvSpPr>
        <p:spPr>
          <a:xfrm>
            <a:off x="2855976" y="5026152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26" name="ellipse"/>
          <p:cNvSpPr txBox="0"/>
          <p:nvPr/>
        </p:nvSpPr>
        <p:spPr>
          <a:xfrm>
            <a:off x="2669032" y="5081016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27" name="ellipse"/>
          <p:cNvSpPr txBox="0"/>
          <p:nvPr/>
        </p:nvSpPr>
        <p:spPr>
          <a:xfrm>
            <a:off x="3042920" y="5017008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28" name="ellipse"/>
          <p:cNvSpPr txBox="0"/>
          <p:nvPr/>
        </p:nvSpPr>
        <p:spPr>
          <a:xfrm>
            <a:off x="2855976" y="4989576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29" name="ellipse"/>
          <p:cNvSpPr txBox="0"/>
          <p:nvPr/>
        </p:nvSpPr>
        <p:spPr>
          <a:xfrm>
            <a:off x="2622296" y="5190744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30" name="ellipse"/>
          <p:cNvSpPr txBox="0"/>
          <p:nvPr/>
        </p:nvSpPr>
        <p:spPr>
          <a:xfrm>
            <a:off x="3370072" y="4953000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31" name="ellipse"/>
          <p:cNvSpPr txBox="0"/>
          <p:nvPr/>
        </p:nvSpPr>
        <p:spPr>
          <a:xfrm>
            <a:off x="3603752" y="5007864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32" name="ellipse"/>
          <p:cNvSpPr txBox="0"/>
          <p:nvPr/>
        </p:nvSpPr>
        <p:spPr>
          <a:xfrm>
            <a:off x="3229864" y="4632960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33" name="ellipse"/>
          <p:cNvSpPr txBox="0"/>
          <p:nvPr/>
        </p:nvSpPr>
        <p:spPr>
          <a:xfrm>
            <a:off x="3416808" y="4395216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34" name="ellipse"/>
          <p:cNvSpPr txBox="0"/>
          <p:nvPr/>
        </p:nvSpPr>
        <p:spPr>
          <a:xfrm>
            <a:off x="2435352" y="4971288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35" name="ellipse"/>
          <p:cNvSpPr txBox="0"/>
          <p:nvPr/>
        </p:nvSpPr>
        <p:spPr>
          <a:xfrm>
            <a:off x="3370072" y="5117592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36" name="ellipse"/>
          <p:cNvSpPr txBox="0"/>
          <p:nvPr/>
        </p:nvSpPr>
        <p:spPr>
          <a:xfrm>
            <a:off x="2622296" y="5081016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37" name="ellipse"/>
          <p:cNvSpPr txBox="0"/>
          <p:nvPr/>
        </p:nvSpPr>
        <p:spPr>
          <a:xfrm>
            <a:off x="2669032" y="5062728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38" name="ellipse"/>
          <p:cNvSpPr txBox="0"/>
          <p:nvPr/>
        </p:nvSpPr>
        <p:spPr>
          <a:xfrm>
            <a:off x="3743960" y="5154168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39" name="ellipse"/>
          <p:cNvSpPr txBox="0"/>
          <p:nvPr/>
        </p:nvSpPr>
        <p:spPr>
          <a:xfrm>
            <a:off x="3603752" y="4888992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40" name="ellipse"/>
          <p:cNvSpPr txBox="0"/>
          <p:nvPr/>
        </p:nvSpPr>
        <p:spPr>
          <a:xfrm>
            <a:off x="2669032" y="4888992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41" name="ellipse"/>
          <p:cNvSpPr txBox="0"/>
          <p:nvPr/>
        </p:nvSpPr>
        <p:spPr>
          <a:xfrm>
            <a:off x="2762504" y="5007864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42" name="ellipse"/>
          <p:cNvSpPr txBox="0"/>
          <p:nvPr/>
        </p:nvSpPr>
        <p:spPr>
          <a:xfrm>
            <a:off x="3557016" y="4879848"/>
            <a:ext cx="50800" cy="50800"/>
          </a:xfrm>
          <a:prstGeom prst="ellipse">
            <a:avLst/>
          </a:prstGeom>
          <a:solidFill>
            <a:srgbClr val="008878"/>
          </a:solidFill>
          <a:ln w="6350">
            <a:solidFill>
              <a:srgbClr val="FFFFFF"/>
            </a:solidFill>
          </a:ln>
        </p:spPr>
      </p:sp>
      <p:sp>
        <p:nvSpPr>
          <p:cNvPr id="143" name="H–target ipTM"/>
          <p:cNvSpPr txBox="1"/>
          <p:nvPr/>
        </p:nvSpPr>
        <p:spPr>
          <a:xfrm>
            <a:off x="563880" y="3911600"/>
            <a:ext cx="11120120" cy="156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80" b="1">
                <a:solidFill>
                  <a:srgbClr val="263E53"/>
                </a:solidFill>
                <a:latin typeface="Arial"/>
              </a:rPr>
              <a:t>H–target ipTM</a:t>
            </a:r>
            <a:endParaRPr/>
          </a:p>
        </p:txBody>
      </p:sp>
      <p:sp>
        <p:nvSpPr>
          <p:cNvPr id="144" name="H–L ipTM (VH–VL pairing)"/>
          <p:cNvSpPr txBox="1"/>
          <p:nvPr/>
        </p:nvSpPr>
        <p:spPr>
          <a:xfrm>
            <a:off x="2286000" y="5745480"/>
            <a:ext cx="9398000" cy="1706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960" b="1">
                <a:solidFill>
                  <a:srgbClr val="263E53"/>
                </a:solidFill>
                <a:latin typeface="Arial"/>
              </a:rPr>
              <a:t>H–L ipTM (VH–VL pairing)</a:t>
            </a:r>
            <a:endParaRPr/>
          </a:p>
        </p:txBody>
      </p:sp>
      <p:sp>
        <p:nvSpPr>
          <p:cNvPr id="145" name="Strong H–L pairing; low target-interface confidence remains."/>
          <p:cNvSpPr txBox="1"/>
          <p:nvPr/>
        </p:nvSpPr>
        <p:spPr>
          <a:xfrm>
            <a:off x="447040" y="5994400"/>
            <a:ext cx="11236960" cy="156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80" b="0">
                <a:solidFill>
                  <a:srgbClr val="546B7E"/>
                </a:solidFill>
                <a:latin typeface="Arial"/>
              </a:rPr>
              <a:t>Strong H–L pairing; low target-interface confidence remains.</a:t>
            </a:r>
            <a:endParaRPr/>
          </a:p>
        </p:txBody>
      </p:sp>
      <p:sp>
        <p:nvSpPr>
          <p:cNvPr id="146" name="Recovery of the selected epitope"/>
          <p:cNvSpPr txBox="1"/>
          <p:nvPr/>
        </p:nvSpPr>
        <p:spPr>
          <a:xfrm>
            <a:off x="6421120" y="3489960"/>
            <a:ext cx="5262880" cy="1991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1120" b="1">
                <a:solidFill>
                  <a:srgbClr val="263E53"/>
                </a:solidFill>
                <a:latin typeface="Arial"/>
              </a:rPr>
              <a:t>Recovery of the selected epitope</a:t>
            </a:r>
            <a:endParaRPr/>
          </a:p>
        </p:txBody>
      </p:sp>
      <p:sp>
        <p:nvSpPr>
          <p:cNvPr id="147" name="≥2 selected residues contacted within 4.5 Å; fraction of inputs"/>
          <p:cNvSpPr txBox="1"/>
          <p:nvPr/>
        </p:nvSpPr>
        <p:spPr>
          <a:xfrm>
            <a:off x="6421120" y="3713480"/>
            <a:ext cx="5262880" cy="156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80" b="0">
                <a:solidFill>
                  <a:srgbClr val="546B7E"/>
                </a:solidFill>
                <a:latin typeface="Arial"/>
              </a:rPr>
              <a:t>≥2 selected residues contacted within 4.5 Å; fraction of inputs</a:t>
            </a:r>
            <a:endParaRPr/>
          </a:p>
        </p:txBody>
      </p:sp>
      <p:sp>
        <p:nvSpPr>
          <p:cNvPr id="148" name="rect"/>
          <p:cNvSpPr txBox="0"/>
          <p:nvPr/>
        </p:nvSpPr>
        <p:spPr>
          <a:xfrm>
            <a:off x="6934200" y="5527040"/>
            <a:ext cx="4622800" cy="10160"/>
          </a:xfrm>
          <a:prstGeom prst="rect">
            <a:avLst/>
          </a:prstGeom>
          <a:solidFill>
            <a:srgbClr val="DFE7ED"/>
          </a:solidFill>
          <a:ln>
            <a:noFill/>
          </a:ln>
        </p:spPr>
      </p:sp>
      <p:sp>
        <p:nvSpPr>
          <p:cNvPr id="149" name="0%"/>
          <p:cNvSpPr txBox="1"/>
          <p:nvPr/>
        </p:nvSpPr>
        <p:spPr>
          <a:xfrm>
            <a:off x="6604000" y="5461000"/>
            <a:ext cx="508000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0%</a:t>
            </a:r>
            <a:endParaRPr/>
          </a:p>
        </p:txBody>
      </p:sp>
      <p:sp>
        <p:nvSpPr>
          <p:cNvPr id="150" name="rect"/>
          <p:cNvSpPr txBox="0"/>
          <p:nvPr/>
        </p:nvSpPr>
        <p:spPr>
          <a:xfrm>
            <a:off x="6934200" y="5161280"/>
            <a:ext cx="4622800" cy="10160"/>
          </a:xfrm>
          <a:prstGeom prst="rect">
            <a:avLst/>
          </a:prstGeom>
          <a:solidFill>
            <a:srgbClr val="DFE7ED"/>
          </a:solidFill>
          <a:ln>
            <a:noFill/>
          </a:ln>
        </p:spPr>
      </p:sp>
      <p:sp>
        <p:nvSpPr>
          <p:cNvPr id="151" name="25%"/>
          <p:cNvSpPr txBox="1"/>
          <p:nvPr/>
        </p:nvSpPr>
        <p:spPr>
          <a:xfrm>
            <a:off x="6604000" y="5095240"/>
            <a:ext cx="508000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25%</a:t>
            </a:r>
            <a:endParaRPr/>
          </a:p>
        </p:txBody>
      </p:sp>
      <p:sp>
        <p:nvSpPr>
          <p:cNvPr id="152" name="rect"/>
          <p:cNvSpPr txBox="0"/>
          <p:nvPr/>
        </p:nvSpPr>
        <p:spPr>
          <a:xfrm>
            <a:off x="6934200" y="4795520"/>
            <a:ext cx="4622800" cy="10160"/>
          </a:xfrm>
          <a:prstGeom prst="rect">
            <a:avLst/>
          </a:prstGeom>
          <a:solidFill>
            <a:srgbClr val="DFE7ED"/>
          </a:solidFill>
          <a:ln>
            <a:noFill/>
          </a:ln>
        </p:spPr>
      </p:sp>
      <p:sp>
        <p:nvSpPr>
          <p:cNvPr id="153" name="50%"/>
          <p:cNvSpPr txBox="1"/>
          <p:nvPr/>
        </p:nvSpPr>
        <p:spPr>
          <a:xfrm>
            <a:off x="6604000" y="4729480"/>
            <a:ext cx="508000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50%</a:t>
            </a:r>
            <a:endParaRPr/>
          </a:p>
        </p:txBody>
      </p:sp>
      <p:sp>
        <p:nvSpPr>
          <p:cNvPr id="154" name="rect"/>
          <p:cNvSpPr txBox="0"/>
          <p:nvPr/>
        </p:nvSpPr>
        <p:spPr>
          <a:xfrm>
            <a:off x="6934200" y="4429760"/>
            <a:ext cx="4622800" cy="10160"/>
          </a:xfrm>
          <a:prstGeom prst="rect">
            <a:avLst/>
          </a:prstGeom>
          <a:solidFill>
            <a:srgbClr val="DFE7ED"/>
          </a:solidFill>
          <a:ln>
            <a:noFill/>
          </a:ln>
        </p:spPr>
      </p:sp>
      <p:sp>
        <p:nvSpPr>
          <p:cNvPr id="155" name="75%"/>
          <p:cNvSpPr txBox="1"/>
          <p:nvPr/>
        </p:nvSpPr>
        <p:spPr>
          <a:xfrm>
            <a:off x="6604000" y="4363720"/>
            <a:ext cx="508000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75%</a:t>
            </a:r>
            <a:endParaRPr/>
          </a:p>
        </p:txBody>
      </p:sp>
      <p:sp>
        <p:nvSpPr>
          <p:cNvPr id="156" name="rect"/>
          <p:cNvSpPr txBox="0"/>
          <p:nvPr/>
        </p:nvSpPr>
        <p:spPr>
          <a:xfrm>
            <a:off x="6934200" y="4064000"/>
            <a:ext cx="4622800" cy="10160"/>
          </a:xfrm>
          <a:prstGeom prst="rect">
            <a:avLst/>
          </a:prstGeom>
          <a:solidFill>
            <a:srgbClr val="DFE7ED"/>
          </a:solidFill>
          <a:ln>
            <a:noFill/>
          </a:ln>
        </p:spPr>
      </p:sp>
      <p:sp>
        <p:nvSpPr>
          <p:cNvPr id="157" name="100%"/>
          <p:cNvSpPr txBox="1"/>
          <p:nvPr/>
        </p:nvSpPr>
        <p:spPr>
          <a:xfrm>
            <a:off x="6604000" y="3997960"/>
            <a:ext cx="5080000" cy="1493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</a:rPr>
              <a:t>100%</a:t>
            </a:r>
            <a:endParaRPr/>
          </a:p>
        </p:txBody>
      </p:sp>
      <p:sp>
        <p:nvSpPr>
          <p:cNvPr id="158" name="rect"/>
          <p:cNvSpPr txBox="0"/>
          <p:nvPr/>
        </p:nvSpPr>
        <p:spPr>
          <a:xfrm>
            <a:off x="6934200" y="5527040"/>
            <a:ext cx="4622800" cy="10160"/>
          </a:xfrm>
          <a:prstGeom prst="rect">
            <a:avLst/>
          </a:prstGeom>
          <a:solidFill>
            <a:srgbClr val="546B7E"/>
          </a:solidFill>
          <a:ln>
            <a:noFill/>
          </a:ln>
        </p:spPr>
      </p:sp>
      <p:sp>
        <p:nvSpPr>
          <p:cNvPr id="159" name="rect"/>
          <p:cNvSpPr txBox="0"/>
          <p:nvPr/>
        </p:nvSpPr>
        <p:spPr>
          <a:xfrm>
            <a:off x="7579360" y="4758944"/>
            <a:ext cx="416560" cy="768096"/>
          </a:xfrm>
          <a:prstGeom prst="rect">
            <a:avLst/>
          </a:prstGeom>
          <a:solidFill>
            <a:srgbClr val="8056A8"/>
          </a:solidFill>
          <a:ln>
            <a:noFill/>
          </a:ln>
        </p:spPr>
      </p:sp>
      <p:sp>
        <p:nvSpPr>
          <p:cNvPr id="160" name="21/40"/>
          <p:cNvSpPr txBox="1"/>
          <p:nvPr/>
        </p:nvSpPr>
        <p:spPr>
          <a:xfrm>
            <a:off x="7538720" y="4576064"/>
            <a:ext cx="4145280" cy="1635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920" b="1">
                <a:solidFill>
                  <a:srgbClr val="8056A8"/>
                </a:solidFill>
                <a:latin typeface="Arial"/>
              </a:rPr>
              <a:t>21/40</a:t>
            </a:r>
            <a:endParaRPr/>
          </a:p>
        </p:txBody>
      </p:sp>
      <p:sp>
        <p:nvSpPr>
          <p:cNvPr id="161" name="rect"/>
          <p:cNvSpPr txBox="0"/>
          <p:nvPr/>
        </p:nvSpPr>
        <p:spPr>
          <a:xfrm>
            <a:off x="8138160" y="4114450"/>
            <a:ext cx="416560" cy="1412590"/>
          </a:xfrm>
          <a:prstGeom prst="rect">
            <a:avLst/>
          </a:prstGeom>
          <a:solidFill>
            <a:srgbClr val="008878"/>
          </a:solidFill>
          <a:ln>
            <a:noFill/>
          </a:ln>
        </p:spPr>
      </p:sp>
      <p:sp>
        <p:nvSpPr>
          <p:cNvPr id="162" name="28/29"/>
          <p:cNvSpPr txBox="1"/>
          <p:nvPr/>
        </p:nvSpPr>
        <p:spPr>
          <a:xfrm>
            <a:off x="8097520" y="3931570"/>
            <a:ext cx="3586480" cy="1635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920" b="1">
                <a:solidFill>
                  <a:srgbClr val="008878"/>
                </a:solidFill>
                <a:latin typeface="Arial"/>
              </a:rPr>
              <a:t>28/29</a:t>
            </a:r>
            <a:endParaRPr/>
          </a:p>
        </p:txBody>
      </p:sp>
      <p:sp>
        <p:nvSpPr>
          <p:cNvPr id="163" name="At least 1 of 4 samples"/>
          <p:cNvSpPr txBox="1"/>
          <p:nvPr/>
        </p:nvSpPr>
        <p:spPr>
          <a:xfrm>
            <a:off x="7289800" y="5745480"/>
            <a:ext cx="4394200" cy="1635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920" b="1">
                <a:solidFill>
                  <a:srgbClr val="263E53"/>
                </a:solidFill>
                <a:latin typeface="Arial"/>
              </a:rPr>
              <a:t>At least 1 of 4 samples</a:t>
            </a:r>
            <a:endParaRPr/>
          </a:p>
        </p:txBody>
      </p:sp>
      <p:sp>
        <p:nvSpPr>
          <p:cNvPr id="164" name="0/40"/>
          <p:cNvSpPr txBox="1"/>
          <p:nvPr/>
        </p:nvSpPr>
        <p:spPr>
          <a:xfrm>
            <a:off x="9900920" y="5344160"/>
            <a:ext cx="1783080" cy="1635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920" b="1">
                <a:solidFill>
                  <a:srgbClr val="8056A8"/>
                </a:solidFill>
                <a:latin typeface="Arial"/>
              </a:rPr>
              <a:t>0/40</a:t>
            </a:r>
            <a:endParaRPr/>
          </a:p>
        </p:txBody>
      </p:sp>
      <p:sp>
        <p:nvSpPr>
          <p:cNvPr id="165" name="rect"/>
          <p:cNvSpPr txBox="0"/>
          <p:nvPr/>
        </p:nvSpPr>
        <p:spPr>
          <a:xfrm>
            <a:off x="10500360" y="5426141"/>
            <a:ext cx="416560" cy="100899"/>
          </a:xfrm>
          <a:prstGeom prst="rect">
            <a:avLst/>
          </a:prstGeom>
          <a:solidFill>
            <a:srgbClr val="008878"/>
          </a:solidFill>
          <a:ln>
            <a:noFill/>
          </a:ln>
        </p:spPr>
      </p:sp>
      <p:sp>
        <p:nvSpPr>
          <p:cNvPr id="166" name="2/29"/>
          <p:cNvSpPr txBox="1"/>
          <p:nvPr/>
        </p:nvSpPr>
        <p:spPr>
          <a:xfrm>
            <a:off x="10459720" y="5243261"/>
            <a:ext cx="1224280" cy="1635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920" b="1">
                <a:solidFill>
                  <a:srgbClr val="008878"/>
                </a:solidFill>
                <a:latin typeface="Arial"/>
              </a:rPr>
              <a:t>2/29</a:t>
            </a:r>
            <a:endParaRPr/>
          </a:p>
        </p:txBody>
      </p:sp>
      <p:sp>
        <p:nvSpPr>
          <p:cNvPr id="167" name="All 4 samples"/>
          <p:cNvSpPr txBox="1"/>
          <p:nvPr/>
        </p:nvSpPr>
        <p:spPr>
          <a:xfrm>
            <a:off x="9652000" y="5745480"/>
            <a:ext cx="2032000" cy="1635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920" b="1">
                <a:solidFill>
                  <a:srgbClr val="263E53"/>
                </a:solidFill>
                <a:latin typeface="Arial"/>
              </a:rPr>
              <a:t>All 4 samples</a:t>
            </a:r>
            <a:endParaRPr/>
          </a:p>
        </p:txBody>
      </p:sp>
      <p:sp>
        <p:nvSpPr>
          <p:cNvPr id="168" name="Contact recovery is variable; it does not establish affinity."/>
          <p:cNvSpPr txBox="1"/>
          <p:nvPr/>
        </p:nvSpPr>
        <p:spPr>
          <a:xfrm>
            <a:off x="6421120" y="5994400"/>
            <a:ext cx="5262880" cy="156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880" b="0">
                <a:solidFill>
                  <a:srgbClr val="546B7E"/>
                </a:solidFill>
                <a:latin typeface="Arial"/>
              </a:rPr>
              <a:t>Contact recovery is variable; it does not establish affinity.</a:t>
            </a:r>
            <a:endParaRPr/>
          </a:p>
        </p:txBody>
      </p:sp>
      <p:sp>
        <p:nvSpPr>
          <p:cNvPr id="169" name="rect"/>
          <p:cNvSpPr txBox="0"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rgbClr val="E7EEF4"/>
          </a:solidFill>
          <a:ln>
            <a:noFill/>
          </a:ln>
        </p:spPr>
      </p:sp>
      <p:sp>
        <p:nvSpPr>
          <p:cNvPr id="170" name="NEXT MILESTONE: validate simultaneous A+B binding on one B7-H3 mo"/>
          <p:cNvSpPr txBox="1"/>
          <p:nvPr/>
        </p:nvSpPr>
        <p:spPr>
          <a:xfrm>
            <a:off x="370840" y="6329680"/>
            <a:ext cx="11313160" cy="177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1000" b="1">
                <a:solidFill>
                  <a:srgbClr val="263E53"/>
                </a:solidFill>
                <a:latin typeface="Arial"/>
              </a:rPr>
              <a:t>NEXT MILESTONE: validate simultaneous A+B binding on one B7-H3 molecule, assemble IgG-Fc and test experimentally.</a:t>
            </a:r>
            <a:endParaRPr/>
          </a:p>
        </p:txBody>
      </p:sp>
      <p:sp>
        <p:nvSpPr>
          <p:cNvPr id="171" name="Pipeline: RFantibody (RFdiffusion) → ProteinMPNN → RF2 → AlphaFol"/>
          <p:cNvSpPr txBox="1"/>
          <p:nvPr/>
        </p:nvSpPr>
        <p:spPr>
          <a:xfrm>
            <a:off x="370840" y="6553200"/>
            <a:ext cx="11313160" cy="1635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/>
            <a:r>
              <a:rPr lang="en-US" sz="920" b="0">
                <a:solidFill>
                  <a:srgbClr val="546B7E"/>
                </a:solidFill>
                <a:latin typeface="Arial"/>
              </a:rPr>
              <a:t>Pipeline: RFantibody (RFdiffusion) → ProteinMPNN → RF2 → AlphaFold 3   |   Recorded results through 18 October 2026</a:t>
            </a:r>
            <a:endParaRPr/>
          </a:p>
        </p:txBody>
      </p:sp>
    </p:spTree>
  </p:cSld>
  <p:clrMapOvr>
    <a:masterClrMapping/>
  </p:clrMapOvr>
</p:sld>
</file>